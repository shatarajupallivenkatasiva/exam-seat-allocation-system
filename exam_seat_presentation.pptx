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30ae9ed8-2382-46b7-dd45-2be0f4a40362}">
          <p14:sldIdLst>
            <p14:sldId id="256"/>
            <p14:sldId id="257"/>
            <p14:sldId id="258"/>
            <p14:sldId id="259"/>
          </p14:sldIdLst>
        </p14:section>
        <p14:section name="Architecture" id="{83e4390e-1383-58fd-3c43-b294da699053}">
          <p14:sldIdLst>
            <p14:sldId id="260"/>
            <p14:sldId id="261"/>
          </p14:sldIdLst>
        </p14:section>
        <p14:section name="Allocation Engine" id="{c02610f6-bf05-d5e2-0a06-abeb115493a3}">
          <p14:sldIdLst>
            <p14:sldId id="262"/>
            <p14:sldId id="263"/>
            <p14:sldId id="264"/>
          </p14:sldIdLst>
        </p14:section>
        <p14:section name="Operations" id="{7e962dd6-6c8c-7c47-6e9b-6dcd2d867d59}">
          <p14:sldIdLst>
            <p14:sldId id="265"/>
            <p14:sldId id="266"/>
            <p14:sldId id="267"/>
            <p14:sldId id="268"/>
          </p14:sldIdLst>
        </p14:section>
        <p14:section name="Wrap-up" id="{3296c1e7-b409-e57c-cce8-adc735f94c2c}">
          <p14:sldIdLst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project: a Flask web app that automates exam seating for colleges. The coloured grid on the right shows the core idea: no two neighbouring desks share a branch.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Manual seating does not scale and invites copying. The system automates placement, enforces separation, validates the result and publishes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Six capability areas, from data management through allocation, validation and reporting.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deliberately lightweight stack: no frontend framework build step, SQLite for zero-setup storage.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MVC plus a service layer. Business logic such as allocation, validation and exports lives in app/services.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Allocation is the join entity. Two unique constraints make double-booking impossible at the database level.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Strategies reorder the candidate queue; the penalty solver then places each student. Branch and section alternation interleave group queues.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Worked example: a new CSE-A student in the centre seat. Two CSE-B neighbours add 10 each and one CSE-A neighbour adds 30, so the total is 50. The engine prefers seats with a lower total.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Every allocation is audited by comprehensive_allocation_validation(). Critical errors stop publication; adjacency findings are surfaced as warnings.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administrator path from login to student lookup, and the exam status states it moves through.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Reports are generated as HTML print views, Excel via openpyxl and PDF via reportlab. The student portal is privacy-preserving.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Hashed credentials, guarded routes, safe file paths, point-in-time backups and all-or-nothing allocation transactions.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Figures are taken from the project README. Each build step has its own test module, and step 8 covers the full workflow, authentication and backups.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Natural next steps: finer access control, notifications, QR hall tickets and manual seat swapping.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7548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5720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6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097280"/>
            <a:ext cx="4754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College Exam Seat Allocation System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Automated, constraint-aware exam seating with anti-copying rules, validation and reports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0233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Flask  ·  SQLAlchemy  ·  SQLite</a:t>
            </a:r>
            <a:endParaRPr lang="en-US" sz="1400" dirty="0"/>
          </a:p>
        </p:txBody>
      </p:sp>
      <p:sp>
        <p:nvSpPr>
          <p:cNvPr id="5" name="seat R1C1"/>
          <p:cNvSpPr/>
          <p:nvPr/>
        </p:nvSpPr>
        <p:spPr>
          <a:xfrm>
            <a:off x="548640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6" name="seat R1C2"/>
          <p:cNvSpPr/>
          <p:nvPr/>
        </p:nvSpPr>
        <p:spPr>
          <a:xfrm>
            <a:off x="603504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7" name="seat R1C3"/>
          <p:cNvSpPr/>
          <p:nvPr/>
        </p:nvSpPr>
        <p:spPr>
          <a:xfrm>
            <a:off x="658368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8" name="seat R1C4"/>
          <p:cNvSpPr/>
          <p:nvPr/>
        </p:nvSpPr>
        <p:spPr>
          <a:xfrm>
            <a:off x="713232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9" name="seat R1C5"/>
          <p:cNvSpPr/>
          <p:nvPr/>
        </p:nvSpPr>
        <p:spPr>
          <a:xfrm>
            <a:off x="768096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0" name="seat R1C6"/>
          <p:cNvSpPr/>
          <p:nvPr/>
        </p:nvSpPr>
        <p:spPr>
          <a:xfrm>
            <a:off x="8229600" y="123444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1" name="seat R2C1"/>
          <p:cNvSpPr/>
          <p:nvPr/>
        </p:nvSpPr>
        <p:spPr>
          <a:xfrm>
            <a:off x="548640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12" name="seat R2C2"/>
          <p:cNvSpPr/>
          <p:nvPr/>
        </p:nvSpPr>
        <p:spPr>
          <a:xfrm>
            <a:off x="603504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13" name="seat R2C3"/>
          <p:cNvSpPr/>
          <p:nvPr/>
        </p:nvSpPr>
        <p:spPr>
          <a:xfrm>
            <a:off x="658368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14" name="seat R2C4"/>
          <p:cNvSpPr/>
          <p:nvPr/>
        </p:nvSpPr>
        <p:spPr>
          <a:xfrm>
            <a:off x="713232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15" name="seat R2C5"/>
          <p:cNvSpPr/>
          <p:nvPr/>
        </p:nvSpPr>
        <p:spPr>
          <a:xfrm>
            <a:off x="768096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16" name="seat R2C6"/>
          <p:cNvSpPr/>
          <p:nvPr/>
        </p:nvSpPr>
        <p:spPr>
          <a:xfrm>
            <a:off x="8229600" y="178308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17" name="seat R3C1"/>
          <p:cNvSpPr/>
          <p:nvPr/>
        </p:nvSpPr>
        <p:spPr>
          <a:xfrm>
            <a:off x="5486400" y="23317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18" name="seat R3C2"/>
          <p:cNvSpPr/>
          <p:nvPr/>
        </p:nvSpPr>
        <p:spPr>
          <a:xfrm>
            <a:off x="6035040" y="23317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19" name="seat R3C3"/>
          <p:cNvSpPr/>
          <p:nvPr/>
        </p:nvSpPr>
        <p:spPr>
          <a:xfrm>
            <a:off x="6583680" y="23317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20" name="seat R3C4"/>
          <p:cNvSpPr/>
          <p:nvPr/>
        </p:nvSpPr>
        <p:spPr>
          <a:xfrm>
            <a:off x="7132320" y="23317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21" name="seat R3C5"/>
          <p:cNvSpPr/>
          <p:nvPr/>
        </p:nvSpPr>
        <p:spPr>
          <a:xfrm>
            <a:off x="7680960" y="23317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22" name="seat R3C6"/>
          <p:cNvSpPr/>
          <p:nvPr/>
        </p:nvSpPr>
        <p:spPr>
          <a:xfrm>
            <a:off x="8229600" y="233172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23" name="seat R4C1"/>
          <p:cNvSpPr/>
          <p:nvPr/>
        </p:nvSpPr>
        <p:spPr>
          <a:xfrm>
            <a:off x="54864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24" name="seat R4C2"/>
          <p:cNvSpPr/>
          <p:nvPr/>
        </p:nvSpPr>
        <p:spPr>
          <a:xfrm>
            <a:off x="603504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25" name="seat R4C3"/>
          <p:cNvSpPr/>
          <p:nvPr/>
        </p:nvSpPr>
        <p:spPr>
          <a:xfrm>
            <a:off x="658368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26" name="seat R4C4"/>
          <p:cNvSpPr/>
          <p:nvPr/>
        </p:nvSpPr>
        <p:spPr>
          <a:xfrm>
            <a:off x="713232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27" name="seat R4C5"/>
          <p:cNvSpPr/>
          <p:nvPr/>
        </p:nvSpPr>
        <p:spPr>
          <a:xfrm>
            <a:off x="768096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3"/>
          </a:solidFill>
          <a:ln/>
        </p:spPr>
      </p:sp>
      <p:sp>
        <p:nvSpPr>
          <p:cNvPr id="28" name="seat R4C6"/>
          <p:cNvSpPr/>
          <p:nvPr/>
        </p:nvSpPr>
        <p:spPr>
          <a:xfrm>
            <a:off x="8229600" y="288036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5"/>
          </a:solidFill>
          <a:ln/>
        </p:spPr>
      </p:sp>
      <p:sp>
        <p:nvSpPr>
          <p:cNvPr id="29" name="seat R5C1"/>
          <p:cNvSpPr/>
          <p:nvPr/>
        </p:nvSpPr>
        <p:spPr>
          <a:xfrm>
            <a:off x="54864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30" name="seat R5C2"/>
          <p:cNvSpPr/>
          <p:nvPr/>
        </p:nvSpPr>
        <p:spPr>
          <a:xfrm>
            <a:off x="603504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31" name="seat R5C3"/>
          <p:cNvSpPr/>
          <p:nvPr/>
        </p:nvSpPr>
        <p:spPr>
          <a:xfrm>
            <a:off x="658368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32" name="seat R5C4"/>
          <p:cNvSpPr/>
          <p:nvPr/>
        </p:nvSpPr>
        <p:spPr>
          <a:xfrm>
            <a:off x="713232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  <p:sp>
        <p:nvSpPr>
          <p:cNvPr id="33" name="seat R5C5"/>
          <p:cNvSpPr/>
          <p:nvPr/>
        </p:nvSpPr>
        <p:spPr>
          <a:xfrm>
            <a:off x="768096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1"/>
          </a:solidFill>
          <a:ln/>
        </p:spPr>
      </p:sp>
      <p:sp>
        <p:nvSpPr>
          <p:cNvPr id="34" name="seat R5C6"/>
          <p:cNvSpPr/>
          <p:nvPr/>
        </p:nvSpPr>
        <p:spPr>
          <a:xfrm>
            <a:off x="8229600" y="3429000"/>
            <a:ext cx="457200" cy="457200"/>
          </a:xfrm>
          <a:prstGeom prst="roundRect">
            <a:avLst>
              <a:gd name="adj" fmla="val 12000"/>
            </a:avLst>
          </a:prstGeom>
          <a:solidFill>
            <a:schemeClr val="accent2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The Problem and Our Goals</a:t>
            </a:r>
            <a:endParaRPr lang="en-US" sz="3200" dirty="0"/>
          </a:p>
        </p:txBody>
      </p:sp>
      <p:sp>
        <p:nvSpPr>
          <p:cNvPr id="3" name="Slow and error-prone circle"/>
          <p:cNvSpPr/>
          <p:nvPr/>
        </p:nvSpPr>
        <p:spPr>
          <a:xfrm>
            <a:off x="457200" y="128016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4" name="Slow and error-prone" descr="Slow and error-pron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220" y="1440180"/>
            <a:ext cx="320040" cy="3200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280160" y="1261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Slow and error-prone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1280160" y="157276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Hand-built desk charts for hundreds of students</a:t>
            </a:r>
            <a:endParaRPr lang="en-US" sz="1400" dirty="0"/>
          </a:p>
        </p:txBody>
      </p:sp>
      <p:sp>
        <p:nvSpPr>
          <p:cNvPr id="7" name="Collusion risk circle"/>
          <p:cNvSpPr/>
          <p:nvPr/>
        </p:nvSpPr>
        <p:spPr>
          <a:xfrm>
            <a:off x="457200" y="23774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Collusion risk" descr="Collusion ris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" y="2537460"/>
            <a:ext cx="320040" cy="320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280160" y="23591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Collusion risk</a:t>
            </a:r>
            <a:endParaRPr lang="en-US" sz="1600" dirty="0"/>
          </a:p>
        </p:txBody>
      </p:sp>
      <p:sp>
        <p:nvSpPr>
          <p:cNvPr id="10" name="Text 6"/>
          <p:cNvSpPr txBox="1"/>
          <p:nvPr/>
        </p:nvSpPr>
        <p:spPr>
          <a:xfrm>
            <a:off x="1280160" y="267004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Same-branch students end up sitting side by side</a:t>
            </a:r>
            <a:endParaRPr lang="en-US" sz="1400" dirty="0"/>
          </a:p>
        </p:txBody>
      </p:sp>
      <p:sp>
        <p:nvSpPr>
          <p:cNvPr id="11" name="Hard to look up circle"/>
          <p:cNvSpPr/>
          <p:nvPr/>
        </p:nvSpPr>
        <p:spPr>
          <a:xfrm>
            <a:off x="457200" y="34747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2" name="Hard to look up" descr="Hard to look up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" y="363474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280160" y="34564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Hard to look up</a:t>
            </a:r>
            <a:endParaRPr lang="en-US" sz="1600" dirty="0"/>
          </a:p>
        </p:txBody>
      </p:sp>
      <p:sp>
        <p:nvSpPr>
          <p:cNvPr id="14" name="Text 9"/>
          <p:cNvSpPr txBox="1"/>
          <p:nvPr/>
        </p:nvSpPr>
        <p:spPr>
          <a:xfrm>
            <a:off x="1280160" y="376732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Students hunt through printed notice-board lists</a:t>
            </a:r>
            <a:endParaRPr lang="en-US" sz="1400" dirty="0"/>
          </a:p>
        </p:txBody>
      </p:sp>
      <p:sp>
        <p:nvSpPr>
          <p:cNvPr id="15" name="objectives card"/>
          <p:cNvSpPr/>
          <p:nvPr/>
        </p:nvSpPr>
        <p:spPr>
          <a:xfrm>
            <a:off x="4754880" y="1188720"/>
            <a:ext cx="3931920" cy="3429000"/>
          </a:xfrm>
          <a:prstGeom prst="roundRect">
            <a:avLst>
              <a:gd name="adj" fmla="val 2133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1"/>
          <p:cNvSpPr txBox="1"/>
          <p:nvPr/>
        </p:nvSpPr>
        <p:spPr>
          <a:xfrm>
            <a:off x="5029200" y="13716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1"/>
                </a:solidFill>
              </a:rPr>
              <a:t>Project objectives</a:t>
            </a:r>
            <a:endParaRPr lang="en-US" sz="2000" dirty="0"/>
          </a:p>
        </p:txBody>
      </p:sp>
      <p:sp>
        <p:nvSpPr>
          <p:cNvPr id="17" name="Text 12"/>
          <p:cNvSpPr txBox="1"/>
          <p:nvPr/>
        </p:nvSpPr>
        <p:spPr>
          <a:xfrm>
            <a:off x="5029200" y="1874520"/>
            <a:ext cx="33832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Automate allocation across rooms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Enforce anti-copying distance rules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Validate every allocation before publishing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Export official Excel and PDF reports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chemeClr val="bg1"/>
                </a:solidFill>
              </a:rPr>
              <a:t>Give students an instant seat lookup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Core Features</a:t>
            </a:r>
            <a:endParaRPr lang="en-US" sz="3200" dirty="0"/>
          </a:p>
        </p:txBody>
      </p:sp>
      <p:sp>
        <p:nvSpPr>
          <p:cNvPr id="3" name="Student Management card"/>
          <p:cNvSpPr/>
          <p:nvPr/>
        </p:nvSpPr>
        <p:spPr>
          <a:xfrm>
            <a:off x="45720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udent Management circle"/>
          <p:cNvSpPr/>
          <p:nvPr/>
        </p:nvSpPr>
        <p:spPr>
          <a:xfrm>
            <a:off x="640080" y="135331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tudent Management" descr="Student Managemen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4380" y="1467612"/>
            <a:ext cx="228600" cy="22860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Student Management</a:t>
            </a:r>
            <a:endParaRPr lang="en-US" sz="15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Excel/CSV bulk import with row-level validation</a:t>
            </a:r>
            <a:endParaRPr lang="en-US" sz="1400" dirty="0"/>
          </a:p>
        </p:txBody>
      </p:sp>
      <p:sp>
        <p:nvSpPr>
          <p:cNvPr id="8" name="Rooms and Seats card"/>
          <p:cNvSpPr/>
          <p:nvPr/>
        </p:nvSpPr>
        <p:spPr>
          <a:xfrm>
            <a:off x="324612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Rooms and Seats circle"/>
          <p:cNvSpPr/>
          <p:nvPr/>
        </p:nvSpPr>
        <p:spPr>
          <a:xfrm>
            <a:off x="3429000" y="135331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Rooms and Seats" descr="Rooms and Sea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0" y="1467612"/>
            <a:ext cx="228600" cy="22860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42900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Rooms and Seats</a:t>
            </a:r>
            <a:endParaRPr lang="en-US" sz="15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 × C hall grids; disable damaged desks</a:t>
            </a:r>
            <a:endParaRPr lang="en-US" sz="1400" dirty="0"/>
          </a:p>
        </p:txBody>
      </p:sp>
      <p:sp>
        <p:nvSpPr>
          <p:cNvPr id="13" name="Exam Scheduling card"/>
          <p:cNvSpPr/>
          <p:nvPr/>
        </p:nvSpPr>
        <p:spPr>
          <a:xfrm>
            <a:off x="6035040" y="118872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Exam Scheduling circle"/>
          <p:cNvSpPr/>
          <p:nvPr/>
        </p:nvSpPr>
        <p:spPr>
          <a:xfrm>
            <a:off x="6217920" y="1353312"/>
            <a:ext cx="457200" cy="45720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Exam Scheduling" descr="Exam Schedul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2220" y="1467612"/>
            <a:ext cx="228600" cy="2286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217920" y="192024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Exam Scheduling</a:t>
            </a:r>
            <a:endParaRPr lang="en-US" sz="15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221284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Sessions, readiness checks, status lifecycle</a:t>
            </a:r>
            <a:endParaRPr lang="en-US" sz="1400" dirty="0"/>
          </a:p>
        </p:txBody>
      </p:sp>
      <p:sp>
        <p:nvSpPr>
          <p:cNvPr id="18" name="Smart Allocation card"/>
          <p:cNvSpPr/>
          <p:nvPr/>
        </p:nvSpPr>
        <p:spPr>
          <a:xfrm>
            <a:off x="45720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Smart Allocation circle"/>
          <p:cNvSpPr/>
          <p:nvPr/>
        </p:nvSpPr>
        <p:spPr>
          <a:xfrm>
            <a:off x="640080" y="3136392"/>
            <a:ext cx="457200" cy="45720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Smart Allocation" descr="Smart Allo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" y="3250692"/>
            <a:ext cx="228600" cy="22860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4008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Smart Allocation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995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4 strategies with anti-copying penalties</a:t>
            </a:r>
            <a:endParaRPr lang="en-US" sz="1400" dirty="0"/>
          </a:p>
        </p:txBody>
      </p:sp>
      <p:sp>
        <p:nvSpPr>
          <p:cNvPr id="23" name="12-Point Validation card"/>
          <p:cNvSpPr/>
          <p:nvPr/>
        </p:nvSpPr>
        <p:spPr>
          <a:xfrm>
            <a:off x="324612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12-Point Validation circle"/>
          <p:cNvSpPr/>
          <p:nvPr/>
        </p:nvSpPr>
        <p:spPr>
          <a:xfrm>
            <a:off x="3429000" y="3136392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12-Point Validation" descr="12-Point Validat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43300" y="3250692"/>
            <a:ext cx="228600" cy="22860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42900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12-Point Validation</a:t>
            </a:r>
            <a:endParaRPr lang="en-US" sz="15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995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Blocks publishing when critical errors exist</a:t>
            </a:r>
            <a:endParaRPr lang="en-US" sz="1400" dirty="0"/>
          </a:p>
        </p:txBody>
      </p:sp>
      <p:sp>
        <p:nvSpPr>
          <p:cNvPr id="28" name="Reports and Lookup card"/>
          <p:cNvSpPr/>
          <p:nvPr/>
        </p:nvSpPr>
        <p:spPr>
          <a:xfrm>
            <a:off x="6035040" y="297180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9" name="Reports and Lookup circle"/>
          <p:cNvSpPr/>
          <p:nvPr/>
        </p:nvSpPr>
        <p:spPr>
          <a:xfrm>
            <a:off x="6217920" y="3136392"/>
            <a:ext cx="457200" cy="45720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30" name="Reports and Lookup" descr="Reports and Lookup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2220" y="3250692"/>
            <a:ext cx="228600" cy="228600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217920" y="370332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Reports and Lookup</a:t>
            </a:r>
            <a:endParaRPr lang="en-US" sz="15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995928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Excel, PDF and a public seat-finder portal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Technology Stack</a:t>
            </a:r>
            <a:endParaRPr lang="en-US" sz="3200" dirty="0"/>
          </a:p>
        </p:txBody>
      </p:sp>
      <p:sp>
        <p:nvSpPr>
          <p:cNvPr id="3" name="Backend row"/>
          <p:cNvSpPr/>
          <p:nvPr/>
        </p:nvSpPr>
        <p:spPr>
          <a:xfrm>
            <a:off x="457200" y="1188720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4" name="Backend label"/>
          <p:cNvSpPr/>
          <p:nvPr/>
        </p:nvSpPr>
        <p:spPr>
          <a:xfrm>
            <a:off x="457200" y="1188720"/>
            <a:ext cx="2011680" cy="566928"/>
          </a:xfrm>
          <a:prstGeom prst="roundRect">
            <a:avLst>
              <a:gd name="adj" fmla="val 12903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188720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2697480" y="118872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 3.0.3 on Python 3.10+, split into modular Blueprints</a:t>
            </a:r>
            <a:endParaRPr lang="en-US" sz="1400" dirty="0"/>
          </a:p>
        </p:txBody>
      </p:sp>
      <p:sp>
        <p:nvSpPr>
          <p:cNvPr id="7" name="Data row"/>
          <p:cNvSpPr/>
          <p:nvPr/>
        </p:nvSpPr>
        <p:spPr>
          <a:xfrm>
            <a:off x="457200" y="1847088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8" name="Data label"/>
          <p:cNvSpPr/>
          <p:nvPr/>
        </p:nvSpPr>
        <p:spPr>
          <a:xfrm>
            <a:off x="457200" y="1847088"/>
            <a:ext cx="2011680" cy="566928"/>
          </a:xfrm>
          <a:prstGeom prst="roundRect">
            <a:avLst>
              <a:gd name="adj" fmla="val 12903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457200" y="1847088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Data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2697480" y="1847088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Flask-SQLAlchemy 3.1.1 ORM over SQLite 3</a:t>
            </a:r>
            <a:endParaRPr lang="en-US" sz="1400" dirty="0"/>
          </a:p>
        </p:txBody>
      </p:sp>
      <p:sp>
        <p:nvSpPr>
          <p:cNvPr id="11" name="Spreadsheets row"/>
          <p:cNvSpPr/>
          <p:nvPr/>
        </p:nvSpPr>
        <p:spPr>
          <a:xfrm>
            <a:off x="457200" y="2505456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2" name="Spreadsheets label"/>
          <p:cNvSpPr/>
          <p:nvPr/>
        </p:nvSpPr>
        <p:spPr>
          <a:xfrm>
            <a:off x="457200" y="2505456"/>
            <a:ext cx="2011680" cy="566928"/>
          </a:xfrm>
          <a:prstGeom prst="roundRect">
            <a:avLst>
              <a:gd name="adj" fmla="val 12903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57200" y="2505456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Spreadsheets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2697480" y="2505456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openpyxl 3.1.5 for styled single- and multi-sheet workbooks</a:t>
            </a:r>
            <a:endParaRPr lang="en-US" sz="1400" dirty="0"/>
          </a:p>
        </p:txBody>
      </p:sp>
      <p:sp>
        <p:nvSpPr>
          <p:cNvPr id="15" name="PDF row"/>
          <p:cNvSpPr/>
          <p:nvPr/>
        </p:nvSpPr>
        <p:spPr>
          <a:xfrm>
            <a:off x="457200" y="3163824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16" name="PDF label"/>
          <p:cNvSpPr/>
          <p:nvPr/>
        </p:nvSpPr>
        <p:spPr>
          <a:xfrm>
            <a:off x="457200" y="3163824"/>
            <a:ext cx="2011680" cy="566928"/>
          </a:xfrm>
          <a:prstGeom prst="roundRect">
            <a:avLst>
              <a:gd name="adj" fmla="val 12903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57200" y="3163824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PDF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2697480" y="3163824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reportlab 4.2.2 with “Page X of Y” numbered footers</a:t>
            </a:r>
            <a:endParaRPr lang="en-US" sz="1400" dirty="0"/>
          </a:p>
        </p:txBody>
      </p:sp>
      <p:sp>
        <p:nvSpPr>
          <p:cNvPr id="19" name="Frontend row"/>
          <p:cNvSpPr/>
          <p:nvPr/>
        </p:nvSpPr>
        <p:spPr>
          <a:xfrm>
            <a:off x="457200" y="3822192"/>
            <a:ext cx="8229600" cy="566928"/>
          </a:xfrm>
          <a:prstGeom prst="roundRect">
            <a:avLst>
              <a:gd name="adj" fmla="val 12903"/>
            </a:avLst>
          </a:prstGeom>
          <a:solidFill>
            <a:schemeClr val="bg2"/>
          </a:solidFill>
          <a:ln/>
        </p:spPr>
      </p:sp>
      <p:sp>
        <p:nvSpPr>
          <p:cNvPr id="20" name="Frontend label"/>
          <p:cNvSpPr/>
          <p:nvPr/>
        </p:nvSpPr>
        <p:spPr>
          <a:xfrm>
            <a:off x="457200" y="3822192"/>
            <a:ext cx="2011680" cy="566928"/>
          </a:xfrm>
          <a:prstGeom prst="roundRect">
            <a:avLst>
              <a:gd name="adj" fmla="val 12903"/>
            </a:avLst>
          </a:prstGeom>
          <a:solidFill>
            <a:schemeClr val="tx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57200" y="38221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Frontend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2697480" y="3822192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Jinja2 templates, HTML5, CSS3 and vanilla JavaScript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4526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Also: python-dotenv for configuration  ·  unittest for testing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Layered Architecture</a:t>
            </a:r>
            <a:endParaRPr lang="en-US" sz="3200" dirty="0"/>
          </a:p>
        </p:txBody>
      </p:sp>
      <p:sp>
        <p:nvSpPr>
          <p:cNvPr id="3" name="Presentation layer"/>
          <p:cNvSpPr/>
          <p:nvPr/>
        </p:nvSpPr>
        <p:spPr>
          <a:xfrm>
            <a:off x="457200" y="1188720"/>
            <a:ext cx="4846320" cy="530352"/>
          </a:xfrm>
          <a:prstGeom prst="roundRect">
            <a:avLst>
              <a:gd name="adj" fmla="val 13793"/>
            </a:avLst>
          </a:prstGeom>
          <a:solidFill>
            <a:schemeClr val="accent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188720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Presentation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Jinja2 templates, CSS, vanilla JS</a:t>
            </a:r>
            <a:endParaRPr lang="en-US" sz="1400" dirty="0"/>
          </a:p>
        </p:txBody>
      </p:sp>
      <p:sp>
        <p:nvSpPr>
          <p:cNvPr id="5" name="flow arrow"/>
          <p:cNvSpPr/>
          <p:nvPr/>
        </p:nvSpPr>
        <p:spPr>
          <a:xfrm>
            <a:off x="2743200" y="1737360"/>
            <a:ext cx="27432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6" name="Routes layer"/>
          <p:cNvSpPr/>
          <p:nvPr/>
        </p:nvSpPr>
        <p:spPr>
          <a:xfrm>
            <a:off x="457200" y="1901952"/>
            <a:ext cx="4846320" cy="530352"/>
          </a:xfrm>
          <a:prstGeom prst="roundRect">
            <a:avLst>
              <a:gd name="adj" fmla="val 13793"/>
            </a:avLst>
          </a:prstGeom>
          <a:solidFill>
            <a:schemeClr val="accent4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1901952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Routes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9 Flask Blueprints</a:t>
            </a:r>
            <a:endParaRPr lang="en-US" sz="1400" dirty="0"/>
          </a:p>
        </p:txBody>
      </p:sp>
      <p:sp>
        <p:nvSpPr>
          <p:cNvPr id="8" name="flow arrow"/>
          <p:cNvSpPr/>
          <p:nvPr/>
        </p:nvSpPr>
        <p:spPr>
          <a:xfrm>
            <a:off x="2743200" y="2450592"/>
            <a:ext cx="27432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9" name="Services layer"/>
          <p:cNvSpPr/>
          <p:nvPr/>
        </p:nvSpPr>
        <p:spPr>
          <a:xfrm>
            <a:off x="457200" y="2615184"/>
            <a:ext cx="4846320" cy="530352"/>
          </a:xfrm>
          <a:prstGeom prst="roundRect">
            <a:avLst>
              <a:gd name="adj" fmla="val 13793"/>
            </a:avLst>
          </a:prstGeom>
          <a:solidFill>
            <a:schemeClr val="accent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615184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Services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11 business-logic modules</a:t>
            </a:r>
            <a:endParaRPr lang="en-US" sz="1400" dirty="0"/>
          </a:p>
        </p:txBody>
      </p:sp>
      <p:sp>
        <p:nvSpPr>
          <p:cNvPr id="11" name="flow arrow"/>
          <p:cNvSpPr/>
          <p:nvPr/>
        </p:nvSpPr>
        <p:spPr>
          <a:xfrm>
            <a:off x="2743200" y="3163824"/>
            <a:ext cx="27432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12" name="Models layer"/>
          <p:cNvSpPr/>
          <p:nvPr/>
        </p:nvSpPr>
        <p:spPr>
          <a:xfrm>
            <a:off x="457200" y="3328416"/>
            <a:ext cx="4846320" cy="530352"/>
          </a:xfrm>
          <a:prstGeom prst="roundRect">
            <a:avLst>
              <a:gd name="adj" fmla="val 13793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328416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Models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6 SQLAlchemy entities</a:t>
            </a:r>
            <a:endParaRPr lang="en-US" sz="1400" dirty="0"/>
          </a:p>
        </p:txBody>
      </p:sp>
      <p:sp>
        <p:nvSpPr>
          <p:cNvPr id="14" name="flow arrow"/>
          <p:cNvSpPr/>
          <p:nvPr/>
        </p:nvSpPr>
        <p:spPr>
          <a:xfrm>
            <a:off x="2743200" y="3877056"/>
            <a:ext cx="274320" cy="146304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15" name="Database layer"/>
          <p:cNvSpPr/>
          <p:nvPr/>
        </p:nvSpPr>
        <p:spPr>
          <a:xfrm>
            <a:off x="457200" y="4041648"/>
            <a:ext cx="4846320" cy="530352"/>
          </a:xfrm>
          <a:prstGeom prst="roundRect">
            <a:avLst>
              <a:gd name="adj" fmla="val 13793"/>
            </a:avLst>
          </a:prstGeom>
          <a:solidFill>
            <a:schemeClr val="tx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4041648"/>
            <a:ext cx="44805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Database</a:t>
            </a:r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   SQLite + atomic backups</a:t>
            </a:r>
            <a:endParaRPr lang="en-US" sz="1400" dirty="0"/>
          </a:p>
        </p:txBody>
      </p:sp>
      <p:sp>
        <p:nvSpPr>
          <p:cNvPr id="17" name="why layered card"/>
          <p:cNvSpPr/>
          <p:nvPr/>
        </p:nvSpPr>
        <p:spPr>
          <a:xfrm>
            <a:off x="5669280" y="1188720"/>
            <a:ext cx="3017520" cy="3291840"/>
          </a:xfrm>
          <a:prstGeom prst="roundRect">
            <a:avLst>
              <a:gd name="adj" fmla="val 242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5897880" y="137160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Why layers?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5897880" y="1828800"/>
            <a:ext cx="26060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Routes stay thin and only handle requests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Services hold the rules, so they test in isolation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chemeClr val="tx2"/>
                </a:solidFill>
              </a:rPr>
              <a:t>Swap the database through one DATABASE_URI setting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Database Design</a:t>
            </a:r>
            <a:endParaRPr lang="en-US" sz="3200" dirty="0"/>
          </a:p>
        </p:txBody>
      </p:sp>
      <p:sp>
        <p:nvSpPr>
          <p:cNvPr id="3" name="Student entity"/>
          <p:cNvSpPr/>
          <p:nvPr/>
        </p:nvSpPr>
        <p:spPr>
          <a:xfrm>
            <a:off x="45720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udent header"/>
          <p:cNvSpPr/>
          <p:nvPr/>
        </p:nvSpPr>
        <p:spPr>
          <a:xfrm>
            <a:off x="457200" y="1188720"/>
            <a:ext cx="2560320" cy="384048"/>
          </a:xfrm>
          <a:prstGeom prst="roundRect">
            <a:avLst>
              <a:gd name="adj" fmla="val 19048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Student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roll_number (unique), name, branch, section, year</a:t>
            </a:r>
            <a:endParaRPr lang="en-US" sz="1200" dirty="0"/>
          </a:p>
        </p:txBody>
      </p:sp>
      <p:sp>
        <p:nvSpPr>
          <p:cNvPr id="7" name="Exam entity"/>
          <p:cNvSpPr/>
          <p:nvPr/>
        </p:nvSpPr>
        <p:spPr>
          <a:xfrm>
            <a:off x="457200" y="29718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Exam header"/>
          <p:cNvSpPr/>
          <p:nvPr/>
        </p:nvSpPr>
        <p:spPr>
          <a:xfrm>
            <a:off x="457200" y="2971800"/>
            <a:ext cx="2560320" cy="384048"/>
          </a:xfrm>
          <a:prstGeom prst="roundRect">
            <a:avLst>
              <a:gd name="adj" fmla="val 19048"/>
            </a:avLst>
          </a:prstGeom>
          <a:solidFill>
            <a:schemeClr val="accent4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94360" y="2971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Exam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3429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exam_name, subject, exam_date, session, start / end time, status</a:t>
            </a:r>
            <a:endParaRPr lang="en-US" sz="1200" dirty="0"/>
          </a:p>
        </p:txBody>
      </p:sp>
      <p:sp>
        <p:nvSpPr>
          <p:cNvPr id="11" name="Room entity"/>
          <p:cNvSpPr/>
          <p:nvPr/>
        </p:nvSpPr>
        <p:spPr>
          <a:xfrm>
            <a:off x="6126480" y="118872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Room header"/>
          <p:cNvSpPr/>
          <p:nvPr/>
        </p:nvSpPr>
        <p:spPr>
          <a:xfrm>
            <a:off x="6126480" y="1188720"/>
            <a:ext cx="2560320" cy="384048"/>
          </a:xfrm>
          <a:prstGeom prst="roundRect">
            <a:avLst>
              <a:gd name="adj" fmla="val 19048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63640" y="118872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Room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6263640" y="164592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room_number (unique), building, floor, rows, columns, capacity, status</a:t>
            </a:r>
            <a:endParaRPr lang="en-US" sz="1200" dirty="0"/>
          </a:p>
        </p:txBody>
      </p:sp>
      <p:sp>
        <p:nvSpPr>
          <p:cNvPr id="15" name="Seat entity"/>
          <p:cNvSpPr/>
          <p:nvPr/>
        </p:nvSpPr>
        <p:spPr>
          <a:xfrm>
            <a:off x="6126480" y="2971800"/>
            <a:ext cx="256032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eat header"/>
          <p:cNvSpPr/>
          <p:nvPr/>
        </p:nvSpPr>
        <p:spPr>
          <a:xfrm>
            <a:off x="6126480" y="2971800"/>
            <a:ext cx="2560320" cy="384048"/>
          </a:xfrm>
          <a:prstGeom prst="roundRect">
            <a:avLst>
              <a:gd name="adj" fmla="val 19048"/>
            </a:avLst>
          </a:prstGeom>
          <a:solidFill>
            <a:schemeClr val="accent3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63640" y="2971800"/>
            <a:ext cx="2286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Seat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3429000"/>
            <a:ext cx="22860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seat_number, row_number, column_number, status</a:t>
            </a:r>
            <a:endParaRPr lang="en-US" sz="1200" dirty="0"/>
          </a:p>
        </p:txBody>
      </p:sp>
      <p:sp>
        <p:nvSpPr>
          <p:cNvPr id="19" name="allocation entity"/>
          <p:cNvSpPr/>
          <p:nvPr/>
        </p:nvSpPr>
        <p:spPr>
          <a:xfrm>
            <a:off x="3520440" y="1188720"/>
            <a:ext cx="2103120" cy="3246120"/>
          </a:xfrm>
          <a:prstGeom prst="roundRect">
            <a:avLst>
              <a:gd name="adj" fmla="val 3478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657600" y="13258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Allocation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3703320" y="1783080"/>
            <a:ext cx="201168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exam_id (FK)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student_id (FK)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room_id (FK)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seat_id (FK)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allocated_at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chemeClr val="bg1"/>
                </a:solidFill>
              </a:rPr>
              <a:t> 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UNIQUE (exam, student)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UNIQUE (exam, seat)</a:t>
            </a:r>
            <a:endParaRPr lang="en-US" sz="1300" dirty="0"/>
          </a:p>
        </p:txBody>
      </p:sp>
      <p:sp>
        <p:nvSpPr>
          <p:cNvPr id="22" name="relation"/>
          <p:cNvSpPr/>
          <p:nvPr/>
        </p:nvSpPr>
        <p:spPr>
          <a:xfrm>
            <a:off x="3017520" y="1920240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3" name="relation"/>
          <p:cNvSpPr/>
          <p:nvPr/>
        </p:nvSpPr>
        <p:spPr>
          <a:xfrm>
            <a:off x="5623560" y="1920240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4" name="relation"/>
          <p:cNvSpPr/>
          <p:nvPr/>
        </p:nvSpPr>
        <p:spPr>
          <a:xfrm>
            <a:off x="3017520" y="3703320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5" name="relation"/>
          <p:cNvSpPr/>
          <p:nvPr/>
        </p:nvSpPr>
        <p:spPr>
          <a:xfrm>
            <a:off x="5623560" y="3703320"/>
            <a:ext cx="502920" cy="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6" name="relation room-seat"/>
          <p:cNvSpPr/>
          <p:nvPr/>
        </p:nvSpPr>
        <p:spPr>
          <a:xfrm>
            <a:off x="7406640" y="2651760"/>
            <a:ext cx="0" cy="320040"/>
          </a:xfrm>
          <a:prstGeom prst="line">
            <a:avLst/>
          </a:prstGeom>
          <a:noFill/>
          <a:ln w="25400">
            <a:solidFill>
              <a:schemeClr val="accent6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57200" y="4553712"/>
            <a:ext cx="7498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Plus a User table for admin login (hashed passwords). Foreign keys cascade on delete.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Smart Allocation Strategies</a:t>
            </a:r>
            <a:endParaRPr lang="en-US" sz="3200" dirty="0"/>
          </a:p>
        </p:txBody>
      </p:sp>
      <p:sp>
        <p:nvSpPr>
          <p:cNvPr id="3" name="Sequential card"/>
          <p:cNvSpPr/>
          <p:nvPr/>
        </p:nvSpPr>
        <p:spPr>
          <a:xfrm>
            <a:off x="457200" y="118872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equential circle"/>
          <p:cNvSpPr/>
          <p:nvPr/>
        </p:nvSpPr>
        <p:spPr>
          <a:xfrm>
            <a:off x="640080" y="137160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Sequential" descr="Sequentia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1508760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Sequential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Row by row, ordered by roll number</a:t>
            </a:r>
            <a:endParaRPr lang="en-US" sz="1400" dirty="0"/>
          </a:p>
        </p:txBody>
      </p:sp>
      <p:sp>
        <p:nvSpPr>
          <p:cNvPr id="8" name="Random card"/>
          <p:cNvSpPr/>
          <p:nvPr/>
        </p:nvSpPr>
        <p:spPr>
          <a:xfrm>
            <a:off x="2560320" y="118872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Random circle"/>
          <p:cNvSpPr/>
          <p:nvPr/>
        </p:nvSpPr>
        <p:spPr>
          <a:xfrm>
            <a:off x="2743200" y="13716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Random" descr="Random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1508760"/>
            <a:ext cx="274320" cy="27432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2743200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Random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274320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Shuffled candidates for unpredictable seating</a:t>
            </a:r>
            <a:endParaRPr lang="en-US" sz="1400" dirty="0"/>
          </a:p>
        </p:txBody>
      </p:sp>
      <p:sp>
        <p:nvSpPr>
          <p:cNvPr id="13" name="Alternate Branch card"/>
          <p:cNvSpPr/>
          <p:nvPr/>
        </p:nvSpPr>
        <p:spPr>
          <a:xfrm>
            <a:off x="4663440" y="118872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lternate Branch circle"/>
          <p:cNvSpPr/>
          <p:nvPr/>
        </p:nvSpPr>
        <p:spPr>
          <a:xfrm>
            <a:off x="4846320" y="13716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5" name="Alternate Branch" descr="Alternate Branch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50876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846320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Alternate Branch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84632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Interleaves CSE, ECE, MECH round-robin</a:t>
            </a:r>
            <a:endParaRPr lang="en-US" sz="1400" dirty="0"/>
          </a:p>
        </p:txBody>
      </p:sp>
      <p:sp>
        <p:nvSpPr>
          <p:cNvPr id="18" name="Alternate Section card"/>
          <p:cNvSpPr/>
          <p:nvPr/>
        </p:nvSpPr>
        <p:spPr>
          <a:xfrm>
            <a:off x="6766560" y="1188720"/>
            <a:ext cx="1920240" cy="233172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Alternate Section circle"/>
          <p:cNvSpPr/>
          <p:nvPr/>
        </p:nvSpPr>
        <p:spPr>
          <a:xfrm>
            <a:off x="6949440" y="1371600"/>
            <a:ext cx="548640" cy="54864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20" name="Alternate Section" descr="Alternate Sec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86600" y="1508760"/>
            <a:ext cx="274320" cy="27432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20574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Alternate Section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949440" y="2606040"/>
            <a:ext cx="1600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Spreads sections of one branch apart</a:t>
            </a:r>
            <a:endParaRPr lang="en-US" sz="1400" dirty="0"/>
          </a:p>
        </p:txBody>
      </p:sp>
      <p:sp>
        <p:nvSpPr>
          <p:cNvPr id="23" name="empty seat rule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empty seat circle"/>
          <p:cNvSpPr/>
          <p:nvPr/>
        </p:nvSpPr>
        <p:spPr>
          <a:xfrm>
            <a:off x="640080" y="3858768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empty seat" descr="empty seat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995928"/>
            <a:ext cx="274320" cy="27432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371600" y="3749040"/>
            <a:ext cx="7132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Optional empty-seat rule: seats where (row + column) is even fill first, leaving a gap between neighbouring candidates.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Anti-Copying Penalty Scoring</a:t>
            </a:r>
            <a:endParaRPr lang="en-US" sz="3200" dirty="0"/>
          </a:p>
        </p:txBody>
      </p:sp>
      <p:sp>
        <p:nvSpPr>
          <p:cNvPr id="3" name="seat cell 1"/>
          <p:cNvSpPr txBox="1"/>
          <p:nvPr/>
        </p:nvSpPr>
        <p:spPr>
          <a:xfrm>
            <a:off x="457200" y="1188720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+0</a:t>
            </a:r>
            <a:endParaRPr lang="en-US" sz="1400" dirty="0"/>
          </a:p>
        </p:txBody>
      </p:sp>
      <p:sp>
        <p:nvSpPr>
          <p:cNvPr id="4" name="seat cell 2"/>
          <p:cNvSpPr txBox="1"/>
          <p:nvPr/>
        </p:nvSpPr>
        <p:spPr>
          <a:xfrm>
            <a:off x="1490472" y="1188720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CSE-B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+10</a:t>
            </a:r>
            <a:endParaRPr lang="en-US" sz="1400" dirty="0"/>
          </a:p>
        </p:txBody>
      </p:sp>
      <p:sp>
        <p:nvSpPr>
          <p:cNvPr id="5" name="seat cell 3"/>
          <p:cNvSpPr txBox="1"/>
          <p:nvPr/>
        </p:nvSpPr>
        <p:spPr>
          <a:xfrm>
            <a:off x="2523744" y="1188720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+0</a:t>
            </a:r>
            <a:endParaRPr lang="en-US" sz="1400" dirty="0"/>
          </a:p>
        </p:txBody>
      </p:sp>
      <p:sp>
        <p:nvSpPr>
          <p:cNvPr id="6" name="seat cell 4"/>
          <p:cNvSpPr txBox="1"/>
          <p:nvPr/>
        </p:nvSpPr>
        <p:spPr>
          <a:xfrm>
            <a:off x="457200" y="2221992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MECH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+0</a:t>
            </a:r>
            <a:endParaRPr lang="en-US" sz="1400" dirty="0"/>
          </a:p>
        </p:txBody>
      </p:sp>
      <p:sp>
        <p:nvSpPr>
          <p:cNvPr id="7" name="seat cell 5"/>
          <p:cNvSpPr txBox="1"/>
          <p:nvPr/>
        </p:nvSpPr>
        <p:spPr>
          <a:xfrm>
            <a:off x="1490472" y="2221992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accent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NEW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CSE-A</a:t>
            </a:r>
            <a:endParaRPr lang="en-US" sz="1400" dirty="0"/>
          </a:p>
        </p:txBody>
      </p:sp>
      <p:sp>
        <p:nvSpPr>
          <p:cNvPr id="8" name="seat cell 6"/>
          <p:cNvSpPr txBox="1"/>
          <p:nvPr/>
        </p:nvSpPr>
        <p:spPr>
          <a:xfrm>
            <a:off x="2523744" y="2221992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accent3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CSE-A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+30</a:t>
            </a:r>
            <a:endParaRPr lang="en-US" sz="1400" dirty="0"/>
          </a:p>
        </p:txBody>
      </p:sp>
      <p:sp>
        <p:nvSpPr>
          <p:cNvPr id="9" name="seat cell 7"/>
          <p:cNvSpPr txBox="1"/>
          <p:nvPr/>
        </p:nvSpPr>
        <p:spPr>
          <a:xfrm>
            <a:off x="457200" y="3255264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+0</a:t>
            </a:r>
            <a:endParaRPr lang="en-US" sz="1400" dirty="0"/>
          </a:p>
        </p:txBody>
      </p:sp>
      <p:sp>
        <p:nvSpPr>
          <p:cNvPr id="10" name="seat cell 8"/>
          <p:cNvSpPr txBox="1"/>
          <p:nvPr/>
        </p:nvSpPr>
        <p:spPr>
          <a:xfrm>
            <a:off x="1490472" y="3255264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bg2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ECE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+0</a:t>
            </a:r>
            <a:endParaRPr lang="en-US" sz="1400" dirty="0"/>
          </a:p>
        </p:txBody>
      </p:sp>
      <p:sp>
        <p:nvSpPr>
          <p:cNvPr id="11" name="seat cell 9"/>
          <p:cNvSpPr txBox="1"/>
          <p:nvPr/>
        </p:nvSpPr>
        <p:spPr>
          <a:xfrm>
            <a:off x="2523744" y="3255264"/>
            <a:ext cx="960120" cy="960120"/>
          </a:xfrm>
          <a:prstGeom prst="roundRect">
            <a:avLst>
              <a:gd name="adj" fmla="val 5714"/>
            </a:avLst>
          </a:prstGeom>
          <a:solidFill>
            <a:schemeClr val="accent1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CSE-B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+10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437083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Total penalty = 50</a:t>
            </a:r>
            <a:endParaRPr lang="en-US" sz="1400" dirty="0"/>
          </a:p>
        </p:txBody>
      </p:sp>
      <p:sp>
        <p:nvSpPr>
          <p:cNvPr id="13" name="rule +10"/>
          <p:cNvSpPr/>
          <p:nvPr/>
        </p:nvSpPr>
        <p:spPr>
          <a:xfrm>
            <a:off x="4023360" y="1188720"/>
            <a:ext cx="4663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4160520" y="11887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+10</a:t>
            </a:r>
            <a:endParaRPr lang="en-US" sz="3000" dirty="0"/>
          </a:p>
        </p:txBody>
      </p:sp>
      <p:sp>
        <p:nvSpPr>
          <p:cNvPr id="15" name="Text 13"/>
          <p:cNvSpPr txBox="1"/>
          <p:nvPr/>
        </p:nvSpPr>
        <p:spPr>
          <a:xfrm>
            <a:off x="5166360" y="11887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for each neighbour from the same branch</a:t>
            </a:r>
            <a:endParaRPr lang="en-US" sz="1400" dirty="0"/>
          </a:p>
        </p:txBody>
      </p:sp>
      <p:sp>
        <p:nvSpPr>
          <p:cNvPr id="16" name="rule +20"/>
          <p:cNvSpPr/>
          <p:nvPr/>
        </p:nvSpPr>
        <p:spPr>
          <a:xfrm>
            <a:off x="4023360" y="2103120"/>
            <a:ext cx="4663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4160520" y="21031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3"/>
                </a:solidFill>
              </a:rPr>
              <a:t>+20</a:t>
            </a:r>
            <a:endParaRPr lang="en-US" sz="3000" dirty="0"/>
          </a:p>
        </p:txBody>
      </p:sp>
      <p:sp>
        <p:nvSpPr>
          <p:cNvPr id="18" name="Text 16"/>
          <p:cNvSpPr txBox="1"/>
          <p:nvPr/>
        </p:nvSpPr>
        <p:spPr>
          <a:xfrm>
            <a:off x="5166360" y="21031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extra when the section matches too</a:t>
            </a:r>
            <a:endParaRPr lang="en-US" sz="1400" dirty="0"/>
          </a:p>
        </p:txBody>
      </p:sp>
      <p:sp>
        <p:nvSpPr>
          <p:cNvPr id="19" name="rule 8"/>
          <p:cNvSpPr/>
          <p:nvPr/>
        </p:nvSpPr>
        <p:spPr>
          <a:xfrm>
            <a:off x="4023360" y="3017520"/>
            <a:ext cx="466344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4160520" y="3017520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8</a:t>
            </a:r>
            <a:endParaRPr lang="en-US" sz="3000" dirty="0"/>
          </a:p>
        </p:txBody>
      </p:sp>
      <p:sp>
        <p:nvSpPr>
          <p:cNvPr id="21" name="Text 19"/>
          <p:cNvSpPr txBox="1"/>
          <p:nvPr/>
        </p:nvSpPr>
        <p:spPr>
          <a:xfrm>
            <a:off x="5166360" y="3017520"/>
            <a:ext cx="3383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directions checked: sides, front, back, diagonals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4023360" y="4023360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The solver places each student at the seat with the lowest total score.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12-Point Validation Engine</a:t>
            </a:r>
            <a:endParaRPr lang="en-US" sz="3200" dirty="0"/>
          </a:p>
        </p:txBody>
      </p:sp>
      <p:sp>
        <p:nvSpPr>
          <p:cNvPr id="3" name="critical card"/>
          <p:cNvSpPr/>
          <p:nvPr/>
        </p:nvSpPr>
        <p:spPr>
          <a:xfrm>
            <a:off x="457200" y="1188720"/>
            <a:ext cx="5394960" cy="3337560"/>
          </a:xfrm>
          <a:prstGeom prst="roundRect">
            <a:avLst>
              <a:gd name="adj" fmla="val 219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6400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9 critical checks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3017520" y="13258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Any failure blocks publishing</a:t>
            </a:r>
            <a:endParaRPr lang="en-US" sz="1200" dirty="0"/>
          </a:p>
        </p:txBody>
      </p:sp>
      <p:sp>
        <p:nvSpPr>
          <p:cNvPr id="6" name="check 1"/>
          <p:cNvSpPr/>
          <p:nvPr/>
        </p:nvSpPr>
        <p:spPr>
          <a:xfrm>
            <a:off x="640080" y="182880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18288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1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Single assignment</a:t>
            </a:r>
            <a:endParaRPr lang="en-US" sz="1200" dirty="0"/>
          </a:p>
        </p:txBody>
      </p:sp>
      <p:sp>
        <p:nvSpPr>
          <p:cNvPr id="8" name="check 2"/>
          <p:cNvSpPr/>
          <p:nvPr/>
        </p:nvSpPr>
        <p:spPr>
          <a:xfrm>
            <a:off x="2331720" y="182880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423160" y="18288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duplicate student</a:t>
            </a:r>
            <a:endParaRPr lang="en-US" sz="1200" dirty="0"/>
          </a:p>
        </p:txBody>
      </p:sp>
      <p:sp>
        <p:nvSpPr>
          <p:cNvPr id="10" name="check 3"/>
          <p:cNvSpPr/>
          <p:nvPr/>
        </p:nvSpPr>
        <p:spPr>
          <a:xfrm>
            <a:off x="4023360" y="182880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114800" y="182880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3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No duplicate seat</a:t>
            </a:r>
            <a:endParaRPr lang="en-US" sz="1200" dirty="0"/>
          </a:p>
        </p:txBody>
      </p:sp>
      <p:sp>
        <p:nvSpPr>
          <p:cNvPr id="12" name="check 4"/>
          <p:cNvSpPr/>
          <p:nvPr/>
        </p:nvSpPr>
        <p:spPr>
          <a:xfrm>
            <a:off x="640080" y="269748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26974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4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Room available</a:t>
            </a:r>
            <a:endParaRPr lang="en-US" sz="1200" dirty="0"/>
          </a:p>
        </p:txBody>
      </p:sp>
      <p:sp>
        <p:nvSpPr>
          <p:cNvPr id="14" name="check 5"/>
          <p:cNvSpPr/>
          <p:nvPr/>
        </p:nvSpPr>
        <p:spPr>
          <a:xfrm>
            <a:off x="2331720" y="269748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23160" y="26974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5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Seat usable</a:t>
            </a:r>
            <a:endParaRPr lang="en-US" sz="1200" dirty="0"/>
          </a:p>
        </p:txBody>
      </p:sp>
      <p:sp>
        <p:nvSpPr>
          <p:cNvPr id="16" name="check 6"/>
          <p:cNvSpPr/>
          <p:nvPr/>
        </p:nvSpPr>
        <p:spPr>
          <a:xfrm>
            <a:off x="4023360" y="269748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114800" y="269748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6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Room ownership</a:t>
            </a:r>
            <a:endParaRPr lang="en-US" sz="1200" dirty="0"/>
          </a:p>
        </p:txBody>
      </p:sp>
      <p:sp>
        <p:nvSpPr>
          <p:cNvPr id="18" name="check 7"/>
          <p:cNvSpPr/>
          <p:nvPr/>
        </p:nvSpPr>
        <p:spPr>
          <a:xfrm>
            <a:off x="640080" y="356616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5661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7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Exam association</a:t>
            </a:r>
            <a:endParaRPr lang="en-US" sz="1200" dirty="0"/>
          </a:p>
        </p:txBody>
      </p:sp>
      <p:sp>
        <p:nvSpPr>
          <p:cNvPr id="20" name="check 8"/>
          <p:cNvSpPr/>
          <p:nvPr/>
        </p:nvSpPr>
        <p:spPr>
          <a:xfrm>
            <a:off x="2331720" y="356616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423160" y="35661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8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Count equality</a:t>
            </a:r>
            <a:endParaRPr lang="en-US" sz="1200" dirty="0"/>
          </a:p>
        </p:txBody>
      </p:sp>
      <p:sp>
        <p:nvSpPr>
          <p:cNvPr id="22" name="check 9"/>
          <p:cNvSpPr/>
          <p:nvPr/>
        </p:nvSpPr>
        <p:spPr>
          <a:xfrm>
            <a:off x="4023360" y="3566160"/>
            <a:ext cx="1554480" cy="749808"/>
          </a:xfrm>
          <a:prstGeom prst="roundRect">
            <a:avLst>
              <a:gd name="adj" fmla="val 7317"/>
            </a:avLst>
          </a:prstGeom>
          <a:solidFill>
            <a:schemeClr val="bg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4114800" y="3566160"/>
            <a:ext cx="1371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Reference integrity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6126480" y="118872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3 warnings</a:t>
            </a:r>
            <a:endParaRPr lang="en-US" sz="1800" dirty="0"/>
          </a:p>
        </p:txBody>
      </p:sp>
      <p:sp>
        <p:nvSpPr>
          <p:cNvPr id="25" name="Section adjacency card"/>
          <p:cNvSpPr/>
          <p:nvPr/>
        </p:nvSpPr>
        <p:spPr>
          <a:xfrm>
            <a:off x="6126480" y="164592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6" name="Section adjacency circle"/>
          <p:cNvSpPr/>
          <p:nvPr/>
        </p:nvSpPr>
        <p:spPr>
          <a:xfrm>
            <a:off x="6263640" y="181051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7" name="Section adjacency" descr="Section adjacency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7084" y="1933956"/>
            <a:ext cx="246888" cy="246888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6903720" y="164592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Section adjacency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flagged for review</a:t>
            </a:r>
            <a:endParaRPr lang="en-US" sz="1400" dirty="0"/>
          </a:p>
        </p:txBody>
      </p:sp>
      <p:sp>
        <p:nvSpPr>
          <p:cNvPr id="29" name="Branch adjacency card"/>
          <p:cNvSpPr/>
          <p:nvPr/>
        </p:nvSpPr>
        <p:spPr>
          <a:xfrm>
            <a:off x="6126480" y="260604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0" name="Branch adjacency circle"/>
          <p:cNvSpPr/>
          <p:nvPr/>
        </p:nvSpPr>
        <p:spPr>
          <a:xfrm>
            <a:off x="6263640" y="277063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Branch adjacency" descr="Branch adjacenc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87084" y="2894076"/>
            <a:ext cx="246888" cy="246888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6903720" y="26060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Branch adjacency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flagged for review</a:t>
            </a:r>
            <a:endParaRPr lang="en-US" sz="1400" dirty="0"/>
          </a:p>
        </p:txBody>
      </p:sp>
      <p:sp>
        <p:nvSpPr>
          <p:cNvPr id="33" name="Separation rule card"/>
          <p:cNvSpPr/>
          <p:nvPr/>
        </p:nvSpPr>
        <p:spPr>
          <a:xfrm>
            <a:off x="6126480" y="3566160"/>
            <a:ext cx="2560320" cy="822960"/>
          </a:xfrm>
          <a:prstGeom prst="roundRect">
            <a:avLst>
              <a:gd name="adj" fmla="val 8889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Separation rule circle"/>
          <p:cNvSpPr/>
          <p:nvPr/>
        </p:nvSpPr>
        <p:spPr>
          <a:xfrm>
            <a:off x="6263640" y="3730752"/>
            <a:ext cx="493776" cy="493776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5" name="Separation rule" descr="Separation ru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7084" y="3854196"/>
            <a:ext cx="246888" cy="246888"/>
          </a:xfrm>
          <a:prstGeom prst="rect">
            <a:avLst/>
          </a:prstGeom>
        </p:spPr>
      </p:pic>
      <p:sp>
        <p:nvSpPr>
          <p:cNvPr id="36" name="Text 31"/>
          <p:cNvSpPr txBox="1"/>
          <p:nvPr/>
        </p:nvSpPr>
        <p:spPr>
          <a:xfrm>
            <a:off x="6903720" y="356616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Separation rule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flagged for review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End-to-End Workflow</a:t>
            </a:r>
            <a:endParaRPr lang="en-US" sz="3200" dirty="0"/>
          </a:p>
        </p:txBody>
      </p:sp>
      <p:sp>
        <p:nvSpPr>
          <p:cNvPr id="3" name="step 1"/>
          <p:cNvSpPr/>
          <p:nvPr/>
        </p:nvSpPr>
        <p:spPr>
          <a:xfrm>
            <a:off x="457200" y="11887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step number circle"/>
          <p:cNvSpPr/>
          <p:nvPr/>
        </p:nvSpPr>
        <p:spPr>
          <a:xfrm>
            <a:off x="59436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88720" y="11887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Add students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2560320" y="11887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8" name="step number circle"/>
          <p:cNvSpPr/>
          <p:nvPr/>
        </p:nvSpPr>
        <p:spPr>
          <a:xfrm>
            <a:off x="269748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269748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291840" y="11887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Configure rooms</a:t>
            </a:r>
            <a:endParaRPr lang="en-US" sz="1400" dirty="0"/>
          </a:p>
        </p:txBody>
      </p:sp>
      <p:sp>
        <p:nvSpPr>
          <p:cNvPr id="11" name="step 3"/>
          <p:cNvSpPr/>
          <p:nvPr/>
        </p:nvSpPr>
        <p:spPr>
          <a:xfrm>
            <a:off x="4663440" y="11887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2" name="step number circle"/>
          <p:cNvSpPr/>
          <p:nvPr/>
        </p:nvSpPr>
        <p:spPr>
          <a:xfrm>
            <a:off x="480060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0060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11887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Schedule exam</a:t>
            </a:r>
            <a:endParaRPr lang="en-US" sz="1400" dirty="0"/>
          </a:p>
        </p:txBody>
      </p:sp>
      <p:sp>
        <p:nvSpPr>
          <p:cNvPr id="15" name="step 4"/>
          <p:cNvSpPr/>
          <p:nvPr/>
        </p:nvSpPr>
        <p:spPr>
          <a:xfrm>
            <a:off x="6766560" y="118872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step number circle"/>
          <p:cNvSpPr/>
          <p:nvPr/>
        </p:nvSpPr>
        <p:spPr>
          <a:xfrm>
            <a:off x="6903720" y="137160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903720" y="1371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7498080" y="118872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Run allocation</a:t>
            </a:r>
            <a:endParaRPr lang="en-US" sz="1400" dirty="0"/>
          </a:p>
        </p:txBody>
      </p:sp>
      <p:sp>
        <p:nvSpPr>
          <p:cNvPr id="19" name="step 5"/>
          <p:cNvSpPr/>
          <p:nvPr/>
        </p:nvSpPr>
        <p:spPr>
          <a:xfrm>
            <a:off x="457200" y="21945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0" name="step number circle"/>
          <p:cNvSpPr/>
          <p:nvPr/>
        </p:nvSpPr>
        <p:spPr>
          <a:xfrm>
            <a:off x="594360" y="2377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9436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88720" y="2194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Validate and publish</a:t>
            </a:r>
            <a:endParaRPr lang="en-US" sz="1400" dirty="0"/>
          </a:p>
        </p:txBody>
      </p:sp>
      <p:sp>
        <p:nvSpPr>
          <p:cNvPr id="23" name="step 6"/>
          <p:cNvSpPr/>
          <p:nvPr/>
        </p:nvSpPr>
        <p:spPr>
          <a:xfrm>
            <a:off x="2560320" y="21945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4" name="step number circle"/>
          <p:cNvSpPr/>
          <p:nvPr/>
        </p:nvSpPr>
        <p:spPr>
          <a:xfrm>
            <a:off x="2697480" y="2377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26974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3291840" y="2194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Export reports</a:t>
            </a:r>
            <a:endParaRPr lang="en-US" sz="1400" dirty="0"/>
          </a:p>
        </p:txBody>
      </p:sp>
      <p:sp>
        <p:nvSpPr>
          <p:cNvPr id="27" name="step 7"/>
          <p:cNvSpPr/>
          <p:nvPr/>
        </p:nvSpPr>
        <p:spPr>
          <a:xfrm>
            <a:off x="4663440" y="2194560"/>
            <a:ext cx="1920240" cy="868680"/>
          </a:xfrm>
          <a:prstGeom prst="roundRect">
            <a:avLst>
              <a:gd name="adj" fmla="val 8421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step number circle"/>
          <p:cNvSpPr/>
          <p:nvPr/>
        </p:nvSpPr>
        <p:spPr>
          <a:xfrm>
            <a:off x="4800600" y="2377440"/>
            <a:ext cx="502920" cy="502920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480060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5394960" y="2194560"/>
            <a:ext cx="10972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Student lookup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457200" y="3337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Exam lifecycle</a:t>
            </a:r>
            <a:endParaRPr lang="en-US" sz="1600" dirty="0"/>
          </a:p>
        </p:txBody>
      </p:sp>
      <p:sp>
        <p:nvSpPr>
          <p:cNvPr id="32" name="lifecycle Draft"/>
          <p:cNvSpPr txBox="1"/>
          <p:nvPr/>
        </p:nvSpPr>
        <p:spPr>
          <a:xfrm>
            <a:off x="457200" y="3703320"/>
            <a:ext cx="1645920" cy="64008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Draft</a:t>
            </a:r>
            <a:endParaRPr lang="en-US" sz="1400" dirty="0"/>
          </a:p>
        </p:txBody>
      </p:sp>
      <p:sp>
        <p:nvSpPr>
          <p:cNvPr id="33" name="lifecycle Scheduled"/>
          <p:cNvSpPr txBox="1"/>
          <p:nvPr/>
        </p:nvSpPr>
        <p:spPr>
          <a:xfrm>
            <a:off x="2103120" y="3703320"/>
            <a:ext cx="1645920" cy="64008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Scheduled</a:t>
            </a:r>
            <a:endParaRPr lang="en-US" sz="1400" dirty="0"/>
          </a:p>
        </p:txBody>
      </p:sp>
      <p:sp>
        <p:nvSpPr>
          <p:cNvPr id="34" name="lifecycle Allocated"/>
          <p:cNvSpPr txBox="1"/>
          <p:nvPr/>
        </p:nvSpPr>
        <p:spPr>
          <a:xfrm>
            <a:off x="3749040" y="3703320"/>
            <a:ext cx="1645920" cy="64008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Allocated</a:t>
            </a:r>
            <a:endParaRPr lang="en-US" sz="1400" dirty="0"/>
          </a:p>
        </p:txBody>
      </p:sp>
      <p:sp>
        <p:nvSpPr>
          <p:cNvPr id="35" name="lifecycle Published"/>
          <p:cNvSpPr txBox="1"/>
          <p:nvPr/>
        </p:nvSpPr>
        <p:spPr>
          <a:xfrm>
            <a:off x="5394960" y="3703320"/>
            <a:ext cx="1645920" cy="640080"/>
          </a:xfrm>
          <a:prstGeom prst="chevron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Published</a:t>
            </a:r>
            <a:endParaRPr lang="en-US" sz="1400" dirty="0"/>
          </a:p>
        </p:txBody>
      </p:sp>
      <p:sp>
        <p:nvSpPr>
          <p:cNvPr id="36" name="lifecycle Completed"/>
          <p:cNvSpPr txBox="1"/>
          <p:nvPr/>
        </p:nvSpPr>
        <p:spPr>
          <a:xfrm>
            <a:off x="7040880" y="3703320"/>
            <a:ext cx="1645920" cy="640080"/>
          </a:xfrm>
          <a:prstGeom prst="chevron">
            <a:avLst/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Completed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Reports and Student Portal</a:t>
            </a:r>
            <a:endParaRPr lang="en-US" sz="3200" dirty="0"/>
          </a:p>
        </p:txBody>
      </p:sp>
      <p:graphicFrame>
        <p:nvGraphicFramePr>
          <p:cNvPr id="12" name="reports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5212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1554480"/>
                <a:gridCol w="2103120"/>
              </a:tblGrid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Report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Formats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Purpose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14213D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Room-wise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HTML, Excel, PDF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Posted outside halls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Student-wise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HTML, Excel, PDF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Master desk register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Attendance sheet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HTML, PDF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Signature roster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Branch / section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HTML, Excel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Seating analytics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4213D"/>
                          </a:solidFill>
                        </a:rPr>
                        <a:t>Complete bundle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Excel, PDF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4213D"/>
                          </a:solidFill>
                        </a:rPr>
                        <a:t>Full audit package</a:t>
                      </a:r>
                      <a:endParaRPr lang="en-US" sz="1300" dirty="0"/>
                    </a:p>
                  </a:txBody>
                  <a:tcPr marL="91440" marR="91440" marT="0" marB="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EEF2F7"/>
                    </a:solidFill>
                  </a:tcPr>
                </a:tc>
              </a:tr>
            </a:tbl>
          </a:graphicData>
        </a:graphic>
      </p:graphicFrame>
      <p:sp>
        <p:nvSpPr>
          <p:cNvPr id="4" name="portal card"/>
          <p:cNvSpPr/>
          <p:nvPr/>
        </p:nvSpPr>
        <p:spPr>
          <a:xfrm>
            <a:off x="5943600" y="1188720"/>
            <a:ext cx="2743200" cy="3337560"/>
          </a:xfrm>
          <a:prstGeom prst="roundRect">
            <a:avLst>
              <a:gd name="adj" fmla="val 2667"/>
            </a:avLst>
          </a:prstGeom>
          <a:solidFill>
            <a:schemeClr val="tx1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5" name="portal search circle"/>
          <p:cNvSpPr/>
          <p:nvPr/>
        </p:nvSpPr>
        <p:spPr>
          <a:xfrm>
            <a:off x="6172200" y="137160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portal search" descr="portal search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1508760"/>
            <a:ext cx="274320" cy="27432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6172200" y="205740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Student lookup portal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6172200" y="2697480"/>
            <a:ext cx="2377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Public /seat-lookup page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Search by roll number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Shows hall and desk only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chemeClr val="bg2"/>
                </a:solidFill>
              </a:rPr>
              <a:t>Hides other students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Security and Reliability</a:t>
            </a:r>
            <a:endParaRPr lang="en-US" sz="3200" dirty="0"/>
          </a:p>
        </p:txBody>
      </p:sp>
      <p:sp>
        <p:nvSpPr>
          <p:cNvPr id="3" name="Protected admin area card"/>
          <p:cNvSpPr/>
          <p:nvPr/>
        </p:nvSpPr>
        <p:spPr>
          <a:xfrm>
            <a:off x="45720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rotected admin area circle"/>
          <p:cNvSpPr/>
          <p:nvPr/>
        </p:nvSpPr>
        <p:spPr>
          <a:xfrm>
            <a:off x="685800" y="141732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rotected admin area" descr="Protected admin are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" y="15773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508760" y="1371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Protected admin area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1508760" y="1783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Session guard on admin routes; pbkdf2:sha256 password hashes</a:t>
            </a:r>
            <a:endParaRPr lang="en-US" sz="1400" dirty="0"/>
          </a:p>
        </p:txBody>
      </p:sp>
      <p:sp>
        <p:nvSpPr>
          <p:cNvPr id="8" name="Safe file handling card"/>
          <p:cNvSpPr/>
          <p:nvPr/>
        </p:nvSpPr>
        <p:spPr>
          <a:xfrm>
            <a:off x="4663440" y="118872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afe file handling circle"/>
          <p:cNvSpPr/>
          <p:nvPr/>
        </p:nvSpPr>
        <p:spPr>
          <a:xfrm>
            <a:off x="4892040" y="1417320"/>
            <a:ext cx="640080" cy="640080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Safe file handling" descr="Safe file handli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2060" y="157734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715000" y="137160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Safe file handling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5715000" y="178308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Path-traversal protection on imports and backup downloads</a:t>
            </a:r>
            <a:endParaRPr lang="en-US" sz="1400" dirty="0"/>
          </a:p>
        </p:txBody>
      </p:sp>
      <p:sp>
        <p:nvSpPr>
          <p:cNvPr id="13" name="Atomic backups card"/>
          <p:cNvSpPr/>
          <p:nvPr/>
        </p:nvSpPr>
        <p:spPr>
          <a:xfrm>
            <a:off x="45720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Atomic backups circle"/>
          <p:cNvSpPr/>
          <p:nvPr/>
        </p:nvSpPr>
        <p:spPr>
          <a:xfrm>
            <a:off x="685800" y="3200400"/>
            <a:ext cx="640080" cy="640080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Atomic backups" descr="Atomic backup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820" y="3360420"/>
            <a:ext cx="320040" cy="32004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508760" y="3154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Atomic backups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1508760" y="3566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SQLite online backup API snapshots without locking writers</a:t>
            </a:r>
            <a:endParaRPr lang="en-US" sz="1400" dirty="0"/>
          </a:p>
        </p:txBody>
      </p:sp>
      <p:sp>
        <p:nvSpPr>
          <p:cNvPr id="18" name="Transactional allocation card"/>
          <p:cNvSpPr/>
          <p:nvPr/>
        </p:nvSpPr>
        <p:spPr>
          <a:xfrm>
            <a:off x="4663440" y="297180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Transactional allocation circle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Transactional allocation" descr="Transactional allocati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2060" y="33604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715000" y="315468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Transactional allocation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5715000" y="3566160"/>
            <a:ext cx="2788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Rolls back cleanly on any shortfall or conflict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Testing and Quality</a:t>
            </a:r>
            <a:endParaRPr lang="en-US" sz="3200" dirty="0"/>
          </a:p>
        </p:txBody>
      </p:sp>
      <p:sp>
        <p:nvSpPr>
          <p:cNvPr id="3" name="automated tests stat"/>
          <p:cNvSpPr/>
          <p:nvPr/>
        </p:nvSpPr>
        <p:spPr>
          <a:xfrm>
            <a:off x="45720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457200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2"/>
                </a:solidFill>
              </a:rPr>
              <a:t>86</a:t>
            </a:r>
            <a:endParaRPr lang="en-US" sz="54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automated tests</a:t>
            </a:r>
            <a:endParaRPr lang="en-US" sz="1400" dirty="0"/>
          </a:p>
        </p:txBody>
      </p:sp>
      <p:sp>
        <p:nvSpPr>
          <p:cNvPr id="6" name="test suites, one per build step stat"/>
          <p:cNvSpPr/>
          <p:nvPr/>
        </p:nvSpPr>
        <p:spPr>
          <a:xfrm>
            <a:off x="256032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2560320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4"/>
                </a:solidFill>
              </a:rPr>
              <a:t>7</a:t>
            </a:r>
            <a:endParaRPr lang="en-US" sz="54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test suites, one per build step</a:t>
            </a:r>
            <a:endParaRPr lang="en-US" sz="1400" dirty="0"/>
          </a:p>
        </p:txBody>
      </p:sp>
      <p:sp>
        <p:nvSpPr>
          <p:cNvPr id="9" name="edge cases verified stat"/>
          <p:cNvSpPr/>
          <p:nvPr/>
        </p:nvSpPr>
        <p:spPr>
          <a:xfrm>
            <a:off x="466344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4663440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3"/>
                </a:solidFill>
              </a:rPr>
              <a:t>14</a:t>
            </a:r>
            <a:endParaRPr lang="en-US" sz="54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edge cases verified</a:t>
            </a:r>
            <a:endParaRPr lang="en-US" sz="1400" dirty="0"/>
          </a:p>
        </p:txBody>
      </p:sp>
      <p:sp>
        <p:nvSpPr>
          <p:cNvPr id="12" name="step end-to-end workflow stat"/>
          <p:cNvSpPr/>
          <p:nvPr/>
        </p:nvSpPr>
        <p:spPr>
          <a:xfrm>
            <a:off x="6766560" y="1188720"/>
            <a:ext cx="1920240" cy="1920240"/>
          </a:xfrm>
          <a:prstGeom prst="roundRect">
            <a:avLst>
              <a:gd name="adj" fmla="val 381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6766560" y="132588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dirty="0">
                <a:solidFill>
                  <a:schemeClr val="accent5"/>
                </a:solidFill>
              </a:rPr>
              <a:t>26</a:t>
            </a:r>
            <a:endParaRPr lang="en-US" sz="54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228600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step end-to-end workflow</a:t>
            </a:r>
            <a:endParaRPr lang="en-US" sz="1400" dirty="0"/>
          </a:p>
        </p:txBody>
      </p:sp>
      <p:sp>
        <p:nvSpPr>
          <p:cNvPr id="15" name="edge cases"/>
          <p:cNvSpPr/>
          <p:nvPr/>
        </p:nvSpPr>
        <p:spPr>
          <a:xfrm>
            <a:off x="457200" y="3337560"/>
            <a:ext cx="8229600" cy="777240"/>
          </a:xfrm>
          <a:prstGeom prst="roundRect">
            <a:avLst>
              <a:gd name="adj" fmla="val 9412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640080" y="333756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Edge cases: zero students or rooms, capacity shortfall, exact capacity, disabled rooms and seats, duplicate rolls, re-allocation, and a 50-student multi-room run.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python -W ignore -m unittest discover tests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Future Improvements</a:t>
            </a:r>
            <a:endParaRPr lang="en-US" sz="3200" dirty="0"/>
          </a:p>
        </p:txBody>
      </p:sp>
      <p:sp>
        <p:nvSpPr>
          <p:cNvPr id="3" name="Multi-tenant departments row"/>
          <p:cNvSpPr/>
          <p:nvPr/>
        </p:nvSpPr>
        <p:spPr>
          <a:xfrm>
            <a:off x="457200" y="1188720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Multi-tenant departments circle"/>
          <p:cNvSpPr/>
          <p:nvPr/>
        </p:nvSpPr>
        <p:spPr>
          <a:xfrm>
            <a:off x="640080" y="1289304"/>
            <a:ext cx="530352" cy="530352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Multi-tenant departments" descr="Multi-tenant departm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1421892"/>
            <a:ext cx="265176" cy="26517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188720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Multi-tenant departments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4297680" y="118872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Granular permissions for departmental sub-admins</a:t>
            </a:r>
            <a:endParaRPr lang="en-US" sz="1400" dirty="0"/>
          </a:p>
        </p:txBody>
      </p:sp>
      <p:sp>
        <p:nvSpPr>
          <p:cNvPr id="8" name="SMS and email alerts row"/>
          <p:cNvSpPr/>
          <p:nvPr/>
        </p:nvSpPr>
        <p:spPr>
          <a:xfrm>
            <a:off x="457200" y="2039112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SMS and email alerts circle"/>
          <p:cNvSpPr/>
          <p:nvPr/>
        </p:nvSpPr>
        <p:spPr>
          <a:xfrm>
            <a:off x="640080" y="2139696"/>
            <a:ext cx="530352" cy="530352"/>
          </a:xfrm>
          <a:prstGeom prst="ellipse">
            <a:avLst/>
          </a:prstGeom>
          <a:solidFill>
            <a:schemeClr val="accent4"/>
          </a:solidFill>
          <a:ln/>
        </p:spPr>
      </p:sp>
      <p:pic>
        <p:nvPicPr>
          <p:cNvPr id="10" name="SMS and email alerts" descr="SMS and email alert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2272284"/>
            <a:ext cx="265176" cy="265176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371600" y="2039112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SMS and email alerts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297680" y="2039112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Send seat details directly to each candidate</a:t>
            </a:r>
            <a:endParaRPr lang="en-US" sz="1400" dirty="0"/>
          </a:p>
        </p:txBody>
      </p:sp>
      <p:sp>
        <p:nvSpPr>
          <p:cNvPr id="13" name="QR hall tickets row"/>
          <p:cNvSpPr/>
          <p:nvPr/>
        </p:nvSpPr>
        <p:spPr>
          <a:xfrm>
            <a:off x="457200" y="2889504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QR hall tickets circle"/>
          <p:cNvSpPr/>
          <p:nvPr/>
        </p:nvSpPr>
        <p:spPr>
          <a:xfrm>
            <a:off x="640080" y="2990088"/>
            <a:ext cx="530352" cy="530352"/>
          </a:xfrm>
          <a:prstGeom prst="ellipse">
            <a:avLst/>
          </a:prstGeom>
          <a:solidFill>
            <a:schemeClr val="accent5"/>
          </a:solidFill>
          <a:ln/>
        </p:spPr>
      </p:sp>
      <p:pic>
        <p:nvPicPr>
          <p:cNvPr id="15" name="QR hall tickets" descr="QR hall ticket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3122676"/>
            <a:ext cx="265176" cy="265176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371600" y="2889504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QR hall tickets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4297680" y="2889504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Scannable verification on lookup results and hall passes</a:t>
            </a:r>
            <a:endParaRPr lang="en-US" sz="1400" dirty="0"/>
          </a:p>
        </p:txBody>
      </p:sp>
      <p:sp>
        <p:nvSpPr>
          <p:cNvPr id="18" name="Live seat swapping row"/>
          <p:cNvSpPr/>
          <p:nvPr/>
        </p:nvSpPr>
        <p:spPr>
          <a:xfrm>
            <a:off x="457200" y="3739896"/>
            <a:ext cx="8229600" cy="73152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  <a:effectLst>
            <a:outerShdw sx="100000" sy="100000" kx="0" ky="0" algn="bl" rotWithShape="0" blurRad="76200" dist="25400" dir="5400000">
              <a:srgbClr val="000000">
                <a:alpha val="12000"/>
              </a:srgbClr>
            </a:outerShdw>
          </a:effectLst>
        </p:spPr>
      </p:sp>
      <p:sp>
        <p:nvSpPr>
          <p:cNvPr id="19" name="Live seat swapping circle"/>
          <p:cNvSpPr/>
          <p:nvPr/>
        </p:nvSpPr>
        <p:spPr>
          <a:xfrm>
            <a:off x="640080" y="3840480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0" name="Live seat swapping" descr="Live seat swappi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3973068"/>
            <a:ext cx="265176" cy="26517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371600" y="3739896"/>
            <a:ext cx="2834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Live seat swapping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297680" y="3739896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Drag-and-drop edits with instant conflict recalculation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D99AE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xamSeat">
  <a:themeElements>
    <a:clrScheme name="ExamSeat">
      <a:dk1>
        <a:srgbClr val="14213D"/>
      </a:dk1>
      <a:lt1>
        <a:srgbClr val="FFFFFF"/>
      </a:lt1>
      <a:dk2>
        <a:srgbClr val="4A5568"/>
      </a:dk2>
      <a:lt2>
        <a:srgbClr val="EEF2F7"/>
      </a:lt2>
      <a:accent1>
        <a:srgbClr val="F5A524"/>
      </a:accent1>
      <a:accent2>
        <a:srgbClr val="1F7A8C"/>
      </a:accent2>
      <a:accent3>
        <a:srgbClr val="D9472B"/>
      </a:accent3>
      <a:accent4>
        <a:srgbClr val="5C7AEA"/>
      </a:accent4>
      <a:accent5>
        <a:srgbClr val="238A5A"/>
      </a:accent5>
      <a:accent6>
        <a:srgbClr val="8D99AE"/>
      </a:accent6>
      <a:hlink>
        <a:srgbClr val="1F7A8C"/>
      </a:hlink>
      <a:folHlink>
        <a:srgbClr val="8D99AE"/>
      </a:folHlink>
    </a:clrScheme>
    <a:fontScheme name="ExamSeat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College Exam Seat Allocation System</dc:title>
  <dc:subject>PptxGenJS Presentation</dc:subject>
  <dc:creator>PptxGenJS</dc:creator>
  <cp:lastModifiedBy>PptxGenJS</cp:lastModifiedBy>
  <cp:revision>1</cp:revision>
  <dcterms:created xsi:type="dcterms:W3CDTF">2026-10-10T04:52:28Z</dcterms:created>
  <dcterms:modified xsi:type="dcterms:W3CDTF">2026-10-10T04:52:28Z</dcterms:modified>
</cp:coreProperties>
</file>